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1536192"/>
            <a:ext cx="1399032" cy="-621792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9992" y="914400"/>
            <a:ext cx="1243584" cy="932688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23576" y="1847088"/>
            <a:ext cx="-777240" cy="1399032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46336" y="3246120"/>
            <a:ext cx="-1554480" cy="-155448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91856" y="3090672"/>
            <a:ext cx="-310896" cy="-1554480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23576" y="1847088"/>
            <a:ext cx="1088136" cy="1088136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11712" y="2935224"/>
            <a:ext cx="-1865376" cy="310896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79992" y="914400"/>
            <a:ext cx="1709928" cy="155448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0" y="1069848"/>
            <a:ext cx="-466344" cy="777240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03236" y="1458468"/>
            <a:ext cx="155448" cy="155448"/>
          </a:xfrm>
          <a:prstGeom prst="ellipse">
            <a:avLst/>
          </a:prstGeom>
          <a:solidFill>
            <a:srgbClr val="5A5E54"/>
          </a:solidFill>
          <a:ln/>
        </p:spPr>
      </p:sp>
      <p:sp>
        <p:nvSpPr>
          <p:cNvPr id="12" name="Shape 10"/>
          <p:cNvSpPr/>
          <p:nvPr/>
        </p:nvSpPr>
        <p:spPr>
          <a:xfrm>
            <a:off x="8970264" y="804672"/>
            <a:ext cx="219456" cy="219456"/>
          </a:xfrm>
          <a:prstGeom prst="ellipse">
            <a:avLst/>
          </a:prstGeom>
          <a:solidFill>
            <a:srgbClr val="C2F04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45852" y="1769364"/>
            <a:ext cx="155448" cy="155448"/>
          </a:xfrm>
          <a:prstGeom prst="ellipse">
            <a:avLst/>
          </a:prstGeom>
          <a:solidFill>
            <a:srgbClr val="5A5E54"/>
          </a:solidFill>
          <a:ln/>
        </p:spPr>
      </p:sp>
      <p:sp>
        <p:nvSpPr>
          <p:cNvPr id="14" name="Shape 12"/>
          <p:cNvSpPr/>
          <p:nvPr/>
        </p:nvSpPr>
        <p:spPr>
          <a:xfrm>
            <a:off x="9436608" y="3136392"/>
            <a:ext cx="219456" cy="219456"/>
          </a:xfrm>
          <a:prstGeom prst="ellipse">
            <a:avLst/>
          </a:prstGeom>
          <a:solidFill>
            <a:srgbClr val="C2F04A"/>
          </a:solidFill>
          <a:ln/>
        </p:spPr>
      </p:sp>
      <p:sp>
        <p:nvSpPr>
          <p:cNvPr id="15" name="Shape 13"/>
          <p:cNvSpPr/>
          <p:nvPr/>
        </p:nvSpPr>
        <p:spPr>
          <a:xfrm>
            <a:off x="7914132" y="3012948"/>
            <a:ext cx="155448" cy="155448"/>
          </a:xfrm>
          <a:prstGeom prst="ellipse">
            <a:avLst/>
          </a:prstGeom>
          <a:solidFill>
            <a:srgbClr val="5A5E54"/>
          </a:solidFill>
          <a:ln/>
        </p:spPr>
      </p:sp>
      <p:sp>
        <p:nvSpPr>
          <p:cNvPr id="16" name="Shape 14"/>
          <p:cNvSpPr/>
          <p:nvPr/>
        </p:nvSpPr>
        <p:spPr>
          <a:xfrm>
            <a:off x="11333988" y="2857500"/>
            <a:ext cx="155448" cy="155448"/>
          </a:xfrm>
          <a:prstGeom prst="ellipse">
            <a:avLst/>
          </a:prstGeom>
          <a:solidFill>
            <a:srgbClr val="5A5E54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12196" y="992124"/>
            <a:ext cx="155448" cy="155448"/>
          </a:xfrm>
          <a:prstGeom prst="ellipse">
            <a:avLst/>
          </a:prstGeom>
          <a:solidFill>
            <a:srgbClr val="5A5E5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1965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LANGUAGE FOR MACHINES THAT DON'T THINK LIKE 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2860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</a:t>
            </a:r>
            <a:pPr indent="0" marL="0">
              <a:buNone/>
            </a:pPr>
            <a:r>
              <a:rPr lang="en-US" sz="13000" dirty="0">
                <a:solidFill>
                  <a:srgbClr val="C2F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</a:t>
            </a:r>
            <a:pPr indent="0" marL="0">
              <a:buNone/>
            </a:pPr>
            <a:r>
              <a:rPr lang="en-US" sz="130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</a:t>
            </a:r>
            <a:endParaRPr lang="en-US" sz="1300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i="1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programming language built for AI, not humans.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64008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B9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v1.0 · pre-implementation · building in public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Languages built for limits we don't have.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03520" cy="3840480"/>
          </a:xfrm>
          <a:prstGeom prst="rect">
            <a:avLst/>
          </a:prstGeom>
          <a:solidFill>
            <a:srgbClr val="13161C"/>
          </a:solidFill>
          <a:ln w="12700">
            <a:solidFill>
              <a:srgbClr val="23272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45352" y="2286000"/>
            <a:ext cx="5303520" cy="3840480"/>
          </a:xfrm>
          <a:prstGeom prst="rect">
            <a:avLst/>
          </a:prstGeom>
          <a:solidFill>
            <a:srgbClr val="171A21"/>
          </a:solidFill>
          <a:ln w="12700">
            <a:solidFill>
              <a:srgbClr val="23272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LANGUAGES ASSUME…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memory → names, comments, structure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fatigue → whitespace, formatting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≈ keystrokes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Ambiguity, patched up later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565392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…AN AI ACTUALLY HAS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65392" y="306324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EC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recall of the whole program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EC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fatigue — density is fine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EC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≈ attention — a different metric entirely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EC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a fully-checkable artifact in one go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GLYPH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THE INSIGHT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972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9B9C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stop optimizing for </a:t>
            </a:r>
            <a:pPr indent="0" marL="0">
              <a:lnSpc>
                <a:spcPct val="105000"/>
              </a:lnSpc>
              <a:buNone/>
            </a:pPr>
            <a:r>
              <a:rPr lang="en-US" sz="4400" i="1" dirty="0">
                <a:solidFill>
                  <a:srgbClr val="9B9C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readable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9B9C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 for 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C2F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minimum attention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express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correct, safe intent — and let 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C2F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text, carry the meaning.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778240" y="5449824"/>
            <a:ext cx="1152144" cy="-512064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30384" y="4937760"/>
            <a:ext cx="1024128" cy="768096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54512" y="5705856"/>
            <a:ext cx="-640080" cy="1152144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14432" y="6858000"/>
            <a:ext cx="-1280160" cy="-128016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34272" y="6729984"/>
            <a:ext cx="-256032" cy="-1280160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54512" y="5705856"/>
            <a:ext cx="896112" cy="896112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50624" y="6601968"/>
            <a:ext cx="-1536192" cy="256032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30384" y="4937760"/>
            <a:ext cx="1408176" cy="128016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38560" y="5065776"/>
            <a:ext cx="-384048" cy="640080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00516" y="5372100"/>
            <a:ext cx="155448" cy="155448"/>
          </a:xfrm>
          <a:prstGeom prst="ellipse">
            <a:avLst/>
          </a:prstGeom>
          <a:solidFill>
            <a:srgbClr val="5A5E54"/>
          </a:solidFill>
          <a:ln/>
        </p:spPr>
      </p:sp>
      <p:sp>
        <p:nvSpPr>
          <p:cNvPr id="14" name="Shape 12"/>
          <p:cNvSpPr/>
          <p:nvPr/>
        </p:nvSpPr>
        <p:spPr>
          <a:xfrm>
            <a:off x="9820656" y="4828032"/>
            <a:ext cx="219456" cy="219456"/>
          </a:xfrm>
          <a:prstGeom prst="ellipse">
            <a:avLst/>
          </a:prstGeom>
          <a:solidFill>
            <a:srgbClr val="C2F0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76788" y="5628132"/>
            <a:ext cx="155448" cy="155448"/>
          </a:xfrm>
          <a:prstGeom prst="ellipse">
            <a:avLst/>
          </a:prstGeom>
          <a:solidFill>
            <a:srgbClr val="5A5E54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04704" y="6748272"/>
            <a:ext cx="219456" cy="219456"/>
          </a:xfrm>
          <a:prstGeom prst="ellipse">
            <a:avLst/>
          </a:prstGeom>
          <a:solidFill>
            <a:srgbClr val="C2F04A"/>
          </a:solidFill>
          <a:ln/>
        </p:spPr>
      </p:sp>
      <p:sp>
        <p:nvSpPr>
          <p:cNvPr id="17" name="Shape 15"/>
          <p:cNvSpPr/>
          <p:nvPr/>
        </p:nvSpPr>
        <p:spPr>
          <a:xfrm>
            <a:off x="8956548" y="6652260"/>
            <a:ext cx="155448" cy="155448"/>
          </a:xfrm>
          <a:prstGeom prst="ellipse">
            <a:avLst/>
          </a:prstGeom>
          <a:solidFill>
            <a:srgbClr val="5A5E54"/>
          </a:solidFill>
          <a:ln/>
        </p:spPr>
      </p:sp>
      <p:sp>
        <p:nvSpPr>
          <p:cNvPr id="18" name="Shape 16"/>
          <p:cNvSpPr/>
          <p:nvPr/>
        </p:nvSpPr>
        <p:spPr>
          <a:xfrm>
            <a:off x="11772900" y="6524244"/>
            <a:ext cx="155448" cy="155448"/>
          </a:xfrm>
          <a:prstGeom prst="ellipse">
            <a:avLst/>
          </a:prstGeom>
          <a:solidFill>
            <a:srgbClr val="5A5E54"/>
          </a:solidFill>
          <a:ln/>
        </p:spPr>
      </p:sp>
      <p:sp>
        <p:nvSpPr>
          <p:cNvPr id="19" name="Shape 17"/>
          <p:cNvSpPr/>
          <p:nvPr/>
        </p:nvSpPr>
        <p:spPr>
          <a:xfrm>
            <a:off x="11260836" y="4988052"/>
            <a:ext cx="155448" cy="155448"/>
          </a:xfrm>
          <a:prstGeom prst="ellipse">
            <a:avLst/>
          </a:prstGeom>
          <a:solidFill>
            <a:srgbClr val="5A5E5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GLYPH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WHAT GLYPH 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commitments.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474720" cy="3657600"/>
          </a:xfrm>
          <a:prstGeom prst="rect">
            <a:avLst/>
          </a:prstGeom>
          <a:solidFill>
            <a:srgbClr val="13161C"/>
          </a:solidFill>
          <a:ln w="12700">
            <a:solidFill>
              <a:srgbClr val="23272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743200"/>
            <a:ext cx="310896" cy="310896"/>
          </a:xfrm>
          <a:prstGeom prst="ellipse">
            <a:avLst/>
          </a:prstGeom>
          <a:solidFill>
            <a:srgbClr val="C2F04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Graph-native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05840" y="379476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of truth is a typed node-graph an AI edits directly. No syntax. No text. Humans get diagrams, never the source.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16552" y="2377440"/>
            <a:ext cx="3474720" cy="3657600"/>
          </a:xfrm>
          <a:prstGeom prst="rect">
            <a:avLst/>
          </a:prstGeom>
          <a:solidFill>
            <a:srgbClr val="13161C"/>
          </a:solidFill>
          <a:ln w="12700">
            <a:solidFill>
              <a:srgbClr val="23272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82312" y="2743200"/>
            <a:ext cx="310896" cy="310896"/>
          </a:xfrm>
          <a:prstGeom prst="ellipse">
            <a:avLst/>
          </a:prstGeom>
          <a:solidFill>
            <a:srgbClr val="C2F04A"/>
          </a:solidFill>
          <a:ln/>
        </p:spPr>
      </p:sp>
      <p:sp>
        <p:nvSpPr>
          <p:cNvPr id="10" name="Text 8"/>
          <p:cNvSpPr/>
          <p:nvPr/>
        </p:nvSpPr>
        <p:spPr>
          <a:xfrm>
            <a:off x="4782312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Foldable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782312" y="379476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cluster of nodes collapses into one. The AI only looks at the level it's on; the rest stays folded and costs nothing.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93024" y="2377440"/>
            <a:ext cx="3474720" cy="3657600"/>
          </a:xfrm>
          <a:prstGeom prst="rect">
            <a:avLst/>
          </a:prstGeom>
          <a:solidFill>
            <a:srgbClr val="13161C"/>
          </a:solidFill>
          <a:ln w="12700">
            <a:solidFill>
              <a:srgbClr val="23272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58784" y="2743200"/>
            <a:ext cx="310896" cy="310896"/>
          </a:xfrm>
          <a:prstGeom prst="ellipse">
            <a:avLst/>
          </a:prstGeom>
          <a:solidFill>
            <a:srgbClr val="C2F04A"/>
          </a:solidFill>
          <a:ln/>
        </p:spPr>
      </p:sp>
      <p:sp>
        <p:nvSpPr>
          <p:cNvPr id="14" name="Text 12"/>
          <p:cNvSpPr/>
          <p:nvPr/>
        </p:nvSpPr>
        <p:spPr>
          <a:xfrm>
            <a:off x="8558784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Verifiable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558784" y="379476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Memory-safe, type-safe, deterministic, contract-checked. Trust comes from a tiny verifier and proofs — not from reading.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GLYPH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— THE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program is a graph you can fold.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486400" cy="3657600"/>
          </a:xfrm>
          <a:prstGeom prst="rect">
            <a:avLst/>
          </a:prstGeom>
          <a:solidFill>
            <a:srgbClr val="13161C"/>
          </a:solidFill>
          <a:ln w="12700">
            <a:solidFill>
              <a:srgbClr val="23272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+ EDGE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338328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171A21"/>
          </a:solidFill>
          <a:ln w="15240">
            <a:solidFill>
              <a:srgbClr val="C2F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520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B9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Text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3794760"/>
            <a:ext cx="1371600" cy="0"/>
          </a:xfrm>
          <a:prstGeom prst="line">
            <a:avLst/>
          </a:prstGeom>
          <a:noFill/>
          <a:ln w="20320">
            <a:solidFill>
              <a:srgbClr val="C2F04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60604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▶ Text ✓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23360" y="338328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171A21"/>
          </a:solidFill>
          <a:ln w="15240">
            <a:solidFill>
              <a:srgbClr val="C2F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3520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B9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LLM «llm»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5720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only connect if the types match. A bad connection is a compile error before anything runs.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5352" y="2377440"/>
            <a:ext cx="5303520" cy="3657600"/>
          </a:xfrm>
          <a:prstGeom prst="rect">
            <a:avLst/>
          </a:prstGeom>
          <a:solidFill>
            <a:srgbClr val="171A21"/>
          </a:solidFill>
          <a:ln w="12700">
            <a:solidFill>
              <a:srgbClr val="23272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9672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3657600"/>
            <a:ext cx="457200" cy="-274320"/>
          </a:xfrm>
          <a:prstGeom prst="line">
            <a:avLst/>
          </a:prstGeom>
          <a:noFill/>
          <a:ln w="12700">
            <a:solidFill>
              <a:srgbClr val="3A40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3383280"/>
            <a:ext cx="457200" cy="274320"/>
          </a:xfrm>
          <a:prstGeom prst="line">
            <a:avLst/>
          </a:prstGeom>
          <a:noFill/>
          <a:ln w="12700">
            <a:solidFill>
              <a:srgbClr val="3A40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3657600"/>
            <a:ext cx="-182880" cy="502920"/>
          </a:xfrm>
          <a:prstGeom prst="line">
            <a:avLst/>
          </a:prstGeom>
          <a:noFill/>
          <a:ln w="12700">
            <a:solidFill>
              <a:srgbClr val="3A40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4160520"/>
            <a:ext cx="-548640" cy="0"/>
          </a:xfrm>
          <a:prstGeom prst="line">
            <a:avLst/>
          </a:prstGeom>
          <a:noFill/>
          <a:ln w="12700">
            <a:solidFill>
              <a:srgbClr val="3A40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4160520"/>
            <a:ext cx="-182880" cy="-502920"/>
          </a:xfrm>
          <a:prstGeom prst="line">
            <a:avLst/>
          </a:prstGeom>
          <a:noFill/>
          <a:ln w="12700">
            <a:solidFill>
              <a:srgbClr val="3A40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3566160"/>
            <a:ext cx="182880" cy="182880"/>
          </a:xfrm>
          <a:prstGeom prst="ellipse">
            <a:avLst/>
          </a:prstGeom>
          <a:solidFill>
            <a:srgbClr val="C2F0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3291840"/>
            <a:ext cx="182880" cy="182880"/>
          </a:xfrm>
          <a:prstGeom prst="ellipse">
            <a:avLst/>
          </a:prstGeom>
          <a:solidFill>
            <a:srgbClr val="C2F0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0" y="3566160"/>
            <a:ext cx="182880" cy="182880"/>
          </a:xfrm>
          <a:prstGeom prst="ellipse">
            <a:avLst/>
          </a:prstGeom>
          <a:solidFill>
            <a:srgbClr val="C2F04A"/>
          </a:solidFill>
          <a:ln/>
        </p:spPr>
      </p:sp>
      <p:sp>
        <p:nvSpPr>
          <p:cNvPr id="23" name="Shape 21"/>
          <p:cNvSpPr/>
          <p:nvPr/>
        </p:nvSpPr>
        <p:spPr>
          <a:xfrm>
            <a:off x="7406640" y="4069080"/>
            <a:ext cx="182880" cy="182880"/>
          </a:xfrm>
          <a:prstGeom prst="ellipse">
            <a:avLst/>
          </a:prstGeom>
          <a:solidFill>
            <a:srgbClr val="C2F04A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0" y="4069080"/>
            <a:ext cx="182880" cy="182880"/>
          </a:xfrm>
          <a:prstGeom prst="ellipse">
            <a:avLst/>
          </a:prstGeom>
          <a:solidFill>
            <a:srgbClr val="C2F04A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0" y="3840480"/>
            <a:ext cx="1005840" cy="0"/>
          </a:xfrm>
          <a:prstGeom prst="line">
            <a:avLst/>
          </a:prstGeom>
          <a:noFill/>
          <a:ln w="20320">
            <a:solidFill>
              <a:srgbClr val="9B9C9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418320" y="3474720"/>
            <a:ext cx="731520" cy="731520"/>
          </a:xfrm>
          <a:prstGeom prst="ellipse">
            <a:avLst/>
          </a:prstGeom>
          <a:solidFill>
            <a:srgbClr val="0A0B0D"/>
          </a:solidFill>
          <a:ln w="25400">
            <a:solidFill>
              <a:srgbClr val="C2F0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0" y="35844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2F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19672" y="46177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nodes collapse into one node with a typed interface. The innards stay folded behind a hash — invisible until opened.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GLYPH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— WHY FOLDING MATTERS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mechanism. Four wins.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303520" cy="1691640"/>
          </a:xfrm>
          <a:prstGeom prst="rect">
            <a:avLst/>
          </a:prstGeom>
          <a:solidFill>
            <a:srgbClr val="13161C"/>
          </a:solidFill>
          <a:ln w="12700">
            <a:solidFill>
              <a:srgbClr val="23272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6060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2F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0" y="2587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828800" y="299008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only loads the interface. Folded detail costs zero attention until opened.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2331720"/>
            <a:ext cx="5303520" cy="1691640"/>
          </a:xfrm>
          <a:prstGeom prst="rect">
            <a:avLst/>
          </a:prstGeom>
          <a:solidFill>
            <a:srgbClr val="13161C"/>
          </a:solidFill>
          <a:ln w="12700">
            <a:solidFill>
              <a:srgbClr val="23272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65392" y="26060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2F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34072" y="2587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at a glance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434072" y="299008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bubble up. A 100-node system still honestly says «llm, db» at the top — nothing hides three folds deep.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5303520" cy="1691640"/>
          </a:xfrm>
          <a:prstGeom prst="rect">
            <a:avLst/>
          </a:prstGeom>
          <a:solidFill>
            <a:srgbClr val="13161C"/>
          </a:solidFill>
          <a:ln w="12700">
            <a:solidFill>
              <a:srgbClr val="23272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45262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2F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828800" y="4507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dedup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828800" y="49103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subgraphs share a hash. Stored once, cached forever.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45352" y="4251960"/>
            <a:ext cx="5303520" cy="1691640"/>
          </a:xfrm>
          <a:prstGeom prst="rect">
            <a:avLst/>
          </a:prstGeom>
          <a:solidFill>
            <a:srgbClr val="13161C"/>
          </a:solidFill>
          <a:ln w="12700">
            <a:solidFill>
              <a:srgbClr val="23272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65392" y="45262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2F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434072" y="4507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Infinite nesting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434072" y="49103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 contain folds. A huge program is five blocks at the top, each opening into five more.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GLYPH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— DETERMINISM FOR FREE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Effects live in the type.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that touches the network says so in its signature. There is no hidden IO. Ordering comes from a single linear token threaded through effectful nodes — so two side-effects physically cannot run in an undefined order.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E2410"/>
          </a:solidFill>
          <a:ln w="19050">
            <a:solidFill>
              <a:srgbClr val="C2F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⟨net⟩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834640" y="4480560"/>
            <a:ext cx="777240" cy="0"/>
          </a:xfrm>
          <a:prstGeom prst="line">
            <a:avLst/>
          </a:prstGeom>
          <a:noFill/>
          <a:ln w="20320">
            <a:solidFill>
              <a:srgbClr val="C2F04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11880" y="40233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3161C"/>
          </a:solidFill>
          <a:ln w="12700">
            <a:solidFill>
              <a:srgbClr val="2E3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23560" y="4480560"/>
            <a:ext cx="777240" cy="0"/>
          </a:xfrm>
          <a:prstGeom prst="line">
            <a:avLst/>
          </a:prstGeom>
          <a:noFill/>
          <a:ln w="20320">
            <a:solidFill>
              <a:srgbClr val="C2F04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0" y="40233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3161C"/>
          </a:solidFill>
          <a:ln w="12700">
            <a:solidFill>
              <a:srgbClr val="2E33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12480" y="4480560"/>
            <a:ext cx="777240" cy="0"/>
          </a:xfrm>
          <a:prstGeom prst="line">
            <a:avLst/>
          </a:prstGeom>
          <a:noFill/>
          <a:ln w="20320">
            <a:solidFill>
              <a:srgbClr val="C2F04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89720" y="40233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3161C"/>
          </a:solidFill>
          <a:ln w="12700">
            <a:solidFill>
              <a:srgbClr val="2E3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F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«net» token flows through, one call after another — determinism becomes a typing rule, not a convention.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GLYPH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— SECURITY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reads the code. So trust moves.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0881360" cy="1078992"/>
          </a:xfrm>
          <a:prstGeom prst="rect">
            <a:avLst/>
          </a:prstGeom>
          <a:solidFill>
            <a:srgbClr val="13161C"/>
          </a:solidFill>
          <a:ln w="12700">
            <a:solidFill>
              <a:srgbClr val="23272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651760"/>
            <a:ext cx="457200" cy="457200"/>
          </a:xfrm>
          <a:prstGeom prst="ellipse">
            <a:avLst/>
          </a:prstGeom>
          <a:solidFill>
            <a:srgbClr val="1E2410"/>
          </a:solidFill>
          <a:ln w="19050">
            <a:solidFill>
              <a:srgbClr val="C2F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7157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2F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256946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verifier is the anchor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0" y="25146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trust one small, fixed, audited checker — not the oceans of AI-generated code it inspects.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10881360" cy="1078992"/>
          </a:xfrm>
          <a:prstGeom prst="rect">
            <a:avLst/>
          </a:prstGeom>
          <a:solidFill>
            <a:srgbClr val="13161C"/>
          </a:solidFill>
          <a:ln w="12700">
            <a:solidFill>
              <a:srgbClr val="23272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931920"/>
            <a:ext cx="457200" cy="457200"/>
          </a:xfrm>
          <a:prstGeom prst="ellipse">
            <a:avLst/>
          </a:prstGeom>
          <a:solidFill>
            <a:srgbClr val="1E2410"/>
          </a:solidFill>
          <a:ln w="19050">
            <a:solidFill>
              <a:srgbClr val="C2F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99592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2F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384962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Proof-carrying code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852160" y="3794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ships code with machine-checkable proofs. You trust the math, not the author.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10881360" cy="1078992"/>
          </a:xfrm>
          <a:prstGeom prst="rect">
            <a:avLst/>
          </a:prstGeom>
          <a:solidFill>
            <a:srgbClr val="13161C"/>
          </a:solidFill>
          <a:ln w="12700">
            <a:solidFill>
              <a:srgbClr val="23272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5212080"/>
            <a:ext cx="457200" cy="457200"/>
          </a:xfrm>
          <a:prstGeom prst="ellipse">
            <a:avLst/>
          </a:prstGeom>
          <a:solidFill>
            <a:srgbClr val="1E2410"/>
          </a:solidFill>
          <a:ln w="19050">
            <a:solidFill>
              <a:srgbClr val="C2F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2760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2F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512978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Adversarial AI auditors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852160" y="5074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model red-teams every graph. Cheap, scalable, no readability required.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GLYPH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— FAST &amp; PORTABLE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Compiles to WebAssembly.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Near-native speed, sandboxed by default, portable. The hard part — UI — is deliberately deferred past v1.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171A21"/>
          </a:solidFill>
          <a:ln w="16510">
            <a:solidFill>
              <a:srgbClr val="C2F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703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 graph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3886200"/>
            <a:ext cx="822960" cy="0"/>
          </a:xfrm>
          <a:prstGeom prst="line">
            <a:avLst/>
          </a:prstGeom>
          <a:noFill/>
          <a:ln w="20320">
            <a:solidFill>
              <a:srgbClr val="C2F04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023360" y="338328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1E2410"/>
          </a:solidFill>
          <a:ln w="19050">
            <a:solidFill>
              <a:srgbClr val="C2F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WASM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0" y="3886200"/>
            <a:ext cx="914400" cy="-694944"/>
          </a:xfrm>
          <a:prstGeom prst="line">
            <a:avLst/>
          </a:prstGeom>
          <a:noFill/>
          <a:ln w="15240">
            <a:solidFill>
              <a:srgbClr val="2E333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06640" y="2880360"/>
            <a:ext cx="2194560" cy="621792"/>
          </a:xfrm>
          <a:prstGeom prst="roundRect">
            <a:avLst>
              <a:gd name="adj" fmla="val 8824"/>
            </a:avLst>
          </a:prstGeom>
          <a:solidFill>
            <a:srgbClr val="13161C"/>
          </a:solidFill>
          <a:ln w="12700">
            <a:solidFill>
              <a:srgbClr val="2E33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30266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C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3886200"/>
            <a:ext cx="914400" cy="155448"/>
          </a:xfrm>
          <a:prstGeom prst="line">
            <a:avLst/>
          </a:prstGeom>
          <a:noFill/>
          <a:ln w="15240">
            <a:solidFill>
              <a:srgbClr val="2E333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06640" y="3730752"/>
            <a:ext cx="2194560" cy="621792"/>
          </a:xfrm>
          <a:prstGeom prst="roundRect">
            <a:avLst>
              <a:gd name="adj" fmla="val 8824"/>
            </a:avLst>
          </a:prstGeom>
          <a:solidFill>
            <a:srgbClr val="13161C"/>
          </a:solidFill>
          <a:ln w="12700">
            <a:solidFill>
              <a:srgbClr val="2E3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38770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C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3886200"/>
            <a:ext cx="914400" cy="1005840"/>
          </a:xfrm>
          <a:prstGeom prst="line">
            <a:avLst/>
          </a:prstGeom>
          <a:noFill/>
          <a:ln w="15240">
            <a:solidFill>
              <a:srgbClr val="2E333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06640" y="4581144"/>
            <a:ext cx="2194560" cy="621792"/>
          </a:xfrm>
          <a:prstGeom prst="roundRect">
            <a:avLst>
              <a:gd name="adj" fmla="val 8824"/>
            </a:avLst>
          </a:prstGeom>
          <a:solidFill>
            <a:srgbClr val="13161C"/>
          </a:solidFill>
          <a:ln w="12700">
            <a:solidFill>
              <a:srgbClr val="2E33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4727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  (later)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GLYPH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— HOW IT'S BUILT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AI directs. Others execute. A dumb harness judges.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E2410"/>
          </a:solidFill>
          <a:ln w="19050">
            <a:solidFill>
              <a:srgbClr val="C2F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2F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9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0" y="3246120"/>
            <a:ext cx="411480" cy="0"/>
          </a:xfrm>
          <a:prstGeom prst="line">
            <a:avLst/>
          </a:prstGeom>
          <a:noFill/>
          <a:ln w="20320">
            <a:solidFill>
              <a:srgbClr val="C2F04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11880" y="26517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3161C"/>
          </a:solidFill>
          <a:ln w="12700">
            <a:solidFill>
              <a:srgbClr val="2E3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Executors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1188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9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models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3246120"/>
            <a:ext cx="411480" cy="0"/>
          </a:xfrm>
          <a:prstGeom prst="line">
            <a:avLst/>
          </a:prstGeom>
          <a:noFill/>
          <a:ln w="20320">
            <a:solidFill>
              <a:srgbClr val="C2F04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92240" y="26517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3161C"/>
          </a:solidFill>
          <a:ln w="12700">
            <a:solidFill>
              <a:srgbClr val="2E33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Harness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9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 + test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61120" y="3246120"/>
            <a:ext cx="411480" cy="0"/>
          </a:xfrm>
          <a:prstGeom prst="line">
            <a:avLst/>
          </a:prstGeom>
          <a:noFill/>
          <a:ln w="20320">
            <a:solidFill>
              <a:srgbClr val="C2F04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372600" y="26517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3161C"/>
          </a:solidFill>
          <a:ln w="12700">
            <a:solidFill>
              <a:srgbClr val="2E33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7260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9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different model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↺  loops on failure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reasoning model owns architecture and writes the acceptance tests first. Cheaper local models write the code. The compiler and tests are the only judge of facts — nothing is accepted until it builds, passes, and survives a red-team. Code is guilty until proven innocent.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GLYPH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— 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Narrow first. Prove the model. Then grow.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0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297680" y="22860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 model, type system, content-addressing.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944368"/>
            <a:ext cx="10881360" cy="0"/>
          </a:xfrm>
          <a:prstGeom prst="line">
            <a:avLst/>
          </a:prstGeom>
          <a:noFill/>
          <a:ln w="12700">
            <a:solidFill>
              <a:srgbClr val="2024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9923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9992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Walking skeleton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97680" y="29992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Effects, primitive nodes, fold/unfold, durable executor, graph → Rust → WASM. It runs in a browser.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10881360" cy="0"/>
          </a:xfrm>
          <a:prstGeom prst="line">
            <a:avLst/>
          </a:prstGeom>
          <a:noFill/>
          <a:ln w="12700">
            <a:solidFill>
              <a:srgbClr val="2024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1246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71246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97680" y="3712464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Capabilities, contracts, architecture checks, reviewer-in-CI.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370832"/>
            <a:ext cx="10881360" cy="0"/>
          </a:xfrm>
          <a:prstGeom prst="line">
            <a:avLst/>
          </a:prstGeom>
          <a:noFill/>
          <a:ln w="12700">
            <a:solidFill>
              <a:srgbClr val="2024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42569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42569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&amp; apps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97680" y="4425696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Web-first cross-platform demo — beyond workflow-only prior art.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084064"/>
            <a:ext cx="10881360" cy="0"/>
          </a:xfrm>
          <a:prstGeom prst="line">
            <a:avLst/>
          </a:prstGeom>
          <a:noFill/>
          <a:ln w="12700">
            <a:solidFill>
              <a:srgbClr val="2024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1389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51389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97680" y="513892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Proof-carrying nodes; shrink the trusted compiler.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5797296"/>
            <a:ext cx="10881360" cy="0"/>
          </a:xfrm>
          <a:prstGeom prst="line">
            <a:avLst/>
          </a:prstGeom>
          <a:noFill/>
          <a:ln w="12700">
            <a:solidFill>
              <a:srgbClr val="2024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852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54480" y="5852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Ecosystem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297680" y="58521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defines new node types in the language itself. FFI. Registry.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GLYPH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08176"/>
            <a:ext cx="1316736" cy="-585216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0656" y="822960"/>
            <a:ext cx="1170432" cy="877824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1700784"/>
            <a:ext cx="-731520" cy="1316736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59568" y="3017520"/>
            <a:ext cx="-1463040" cy="-146304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96528" y="2871216"/>
            <a:ext cx="-292608" cy="-1463040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91088" y="1700784"/>
            <a:ext cx="1024128" cy="1024128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15216" y="2724912"/>
            <a:ext cx="-1755648" cy="292608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20656" y="822960"/>
            <a:ext cx="1609344" cy="146304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969264"/>
            <a:ext cx="-438912" cy="731520"/>
          </a:xfrm>
          <a:prstGeom prst="line">
            <a:avLst/>
          </a:prstGeom>
          <a:noFill/>
          <a:ln w="12700">
            <a:solidFill>
              <a:srgbClr val="2E33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26196" y="1330452"/>
            <a:ext cx="155448" cy="155448"/>
          </a:xfrm>
          <a:prstGeom prst="ellipse">
            <a:avLst/>
          </a:prstGeom>
          <a:solidFill>
            <a:srgbClr val="5A5E54"/>
          </a:solidFill>
          <a:ln/>
        </p:spPr>
      </p:sp>
      <p:sp>
        <p:nvSpPr>
          <p:cNvPr id="12" name="Shape 10"/>
          <p:cNvSpPr/>
          <p:nvPr/>
        </p:nvSpPr>
        <p:spPr>
          <a:xfrm>
            <a:off x="9710928" y="713232"/>
            <a:ext cx="219456" cy="219456"/>
          </a:xfrm>
          <a:prstGeom prst="ellipse">
            <a:avLst/>
          </a:prstGeom>
          <a:solidFill>
            <a:srgbClr val="C2F04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13364" y="1623060"/>
            <a:ext cx="155448" cy="155448"/>
          </a:xfrm>
          <a:prstGeom prst="ellipse">
            <a:avLst/>
          </a:prstGeom>
          <a:solidFill>
            <a:srgbClr val="5A5E5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49840" y="2907792"/>
            <a:ext cx="219456" cy="219456"/>
          </a:xfrm>
          <a:prstGeom prst="ellipse">
            <a:avLst/>
          </a:prstGeom>
          <a:solidFill>
            <a:srgbClr val="C2F04A"/>
          </a:solidFill>
          <a:ln/>
        </p:spPr>
      </p:sp>
      <p:sp>
        <p:nvSpPr>
          <p:cNvPr id="15" name="Shape 13"/>
          <p:cNvSpPr/>
          <p:nvPr/>
        </p:nvSpPr>
        <p:spPr>
          <a:xfrm>
            <a:off x="8718804" y="2793492"/>
            <a:ext cx="155448" cy="155448"/>
          </a:xfrm>
          <a:prstGeom prst="ellipse">
            <a:avLst/>
          </a:prstGeom>
          <a:solidFill>
            <a:srgbClr val="5A5E54"/>
          </a:solidFill>
          <a:ln/>
        </p:spPr>
      </p:sp>
      <p:sp>
        <p:nvSpPr>
          <p:cNvPr id="16" name="Shape 14"/>
          <p:cNvSpPr/>
          <p:nvPr/>
        </p:nvSpPr>
        <p:spPr>
          <a:xfrm>
            <a:off x="11937492" y="2647188"/>
            <a:ext cx="155448" cy="155448"/>
          </a:xfrm>
          <a:prstGeom prst="ellipse">
            <a:avLst/>
          </a:prstGeom>
          <a:solidFill>
            <a:srgbClr val="5A5E54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52276" y="891540"/>
            <a:ext cx="155448" cy="155448"/>
          </a:xfrm>
          <a:prstGeom prst="ellipse">
            <a:avLst/>
          </a:prstGeom>
          <a:solidFill>
            <a:srgbClr val="5A5E5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2F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HONEST VERSION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2286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C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“Bug-free” is a fantasy.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40080" y="32918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i="1" dirty="0">
                <a:solidFill>
                  <a:srgbClr val="9B9C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GLYPH actually delivers: </a:t>
            </a:r>
            <a:pPr indent="0" marL="0">
              <a:lnSpc>
                <a:spcPct val="110000"/>
              </a:lnSpc>
              <a:buNone/>
            </a:pPr>
            <a:r>
              <a:rPr lang="en-US" sz="2400" i="1" dirty="0">
                <a:solidFill>
                  <a:srgbClr val="C2F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memory-safe, type-safe, deterministic, contract-checked, verifiable</a:t>
            </a:r>
            <a:pPr indent="0" marL="0">
              <a:lnSpc>
                <a:spcPct val="110000"/>
              </a:lnSpc>
              <a:buNone/>
            </a:pPr>
            <a:r>
              <a:rPr lang="en-US" sz="2400" i="1" dirty="0">
                <a:solidFill>
                  <a:srgbClr val="9B9C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That's the real, sellable claim — and it's enough.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40080" y="4937760"/>
            <a:ext cx="10881360" cy="0"/>
          </a:xfrm>
          <a:prstGeom prst="line">
            <a:avLst/>
          </a:prstGeom>
          <a:noFill/>
          <a:ln w="12700">
            <a:solidFill>
              <a:srgbClr val="2024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212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repository is coming.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+ fold direction shared with Weft — ideas borrowed, not code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GLYPH — a programming language for AI</dc:title>
  <dc:subject>PptxGenJS Presentation</dc:subject>
  <dc:creator>GLYPH</dc:creator>
  <cp:lastModifiedBy>GLYPH</cp:lastModifiedBy>
  <cp:revision>1</cp:revision>
  <dcterms:created xsi:type="dcterms:W3CDTF">2026-06-07T21:32:52Z</dcterms:created>
  <dcterms:modified xsi:type="dcterms:W3CDTF">2026-06-07T21:32:52Z</dcterms:modified>
</cp:coreProperties>
</file>